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585" r:id="rId9"/>
    <p:sldId id="25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/>
    <p:restoredTop sz="83628"/>
  </p:normalViewPr>
  <p:slideViewPr>
    <p:cSldViewPr snapToGrid="0">
      <p:cViewPr>
        <p:scale>
          <a:sx n="111" d="100"/>
          <a:sy n="111" d="100"/>
        </p:scale>
        <p:origin x="2616" y="6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6113F0-DB49-584D-A860-A540C80280C5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437E4264-3323-4447-88B4-D38A6F38B830}">
      <dgm:prSet phldrT="[Text]"/>
      <dgm:spPr/>
      <dgm:t>
        <a:bodyPr/>
        <a:lstStyle/>
        <a:p>
          <a:r>
            <a:rPr lang="en-US" dirty="0"/>
            <a:t>Synthetic phish-report events </a:t>
          </a:r>
        </a:p>
      </dgm:t>
    </dgm:pt>
    <dgm:pt modelId="{8C1768A1-AB0F-014F-8644-1605B6B1C907}" type="parTrans" cxnId="{800474D7-3FAF-B04E-B41E-CA9E03B46671}">
      <dgm:prSet/>
      <dgm:spPr/>
      <dgm:t>
        <a:bodyPr/>
        <a:lstStyle/>
        <a:p>
          <a:endParaRPr lang="en-US"/>
        </a:p>
      </dgm:t>
    </dgm:pt>
    <dgm:pt modelId="{8D8E16D5-0CC8-4E40-9C7B-EFC11FC70CE7}" type="sibTrans" cxnId="{800474D7-3FAF-B04E-B41E-CA9E03B46671}">
      <dgm:prSet/>
      <dgm:spPr/>
      <dgm:t>
        <a:bodyPr/>
        <a:lstStyle/>
        <a:p>
          <a:endParaRPr lang="en-US"/>
        </a:p>
      </dgm:t>
    </dgm:pt>
    <dgm:pt modelId="{50630FD9-DF55-F64B-A68B-FB67953C2971}">
      <dgm:prSet phldrT="[Text]"/>
      <dgm:spPr/>
      <dgm:t>
        <a:bodyPr/>
        <a:lstStyle/>
        <a:p>
          <a:r>
            <a:rPr lang="en-US" dirty="0"/>
            <a:t>Containerized logging &amp; metrics script</a:t>
          </a:r>
        </a:p>
      </dgm:t>
    </dgm:pt>
    <dgm:pt modelId="{7E411FB9-ABF9-4E4D-BC9F-2FF5D82D1F7E}" type="parTrans" cxnId="{B3AA9D92-E5AB-404A-92D9-5296A533E9C9}">
      <dgm:prSet/>
      <dgm:spPr/>
      <dgm:t>
        <a:bodyPr/>
        <a:lstStyle/>
        <a:p>
          <a:endParaRPr lang="en-US"/>
        </a:p>
      </dgm:t>
    </dgm:pt>
    <dgm:pt modelId="{D7C92E57-5A02-994A-BFFD-B26031ABB157}" type="sibTrans" cxnId="{B3AA9D92-E5AB-404A-92D9-5296A533E9C9}">
      <dgm:prSet/>
      <dgm:spPr/>
      <dgm:t>
        <a:bodyPr/>
        <a:lstStyle/>
        <a:p>
          <a:endParaRPr lang="en-US"/>
        </a:p>
      </dgm:t>
    </dgm:pt>
    <dgm:pt modelId="{B1FF771A-7DB4-FA42-82D9-DDAE12C4EA9E}">
      <dgm:prSet phldrT="[Text]"/>
      <dgm:spPr/>
      <dgm:t>
        <a:bodyPr/>
        <a:lstStyle/>
        <a:p>
          <a:r>
            <a:rPr lang="en-US" dirty="0"/>
            <a:t>Evidence in docs/</a:t>
          </a:r>
        </a:p>
      </dgm:t>
    </dgm:pt>
    <dgm:pt modelId="{61A60584-749E-F849-9DA5-7578E8050C0B}" type="parTrans" cxnId="{A90DDEBD-3825-0040-899F-91DED20A6847}">
      <dgm:prSet/>
      <dgm:spPr/>
      <dgm:t>
        <a:bodyPr/>
        <a:lstStyle/>
        <a:p>
          <a:endParaRPr lang="en-US"/>
        </a:p>
      </dgm:t>
    </dgm:pt>
    <dgm:pt modelId="{B643728B-BC1F-C448-8BBF-89EE0002886F}" type="sibTrans" cxnId="{A90DDEBD-3825-0040-899F-91DED20A6847}">
      <dgm:prSet/>
      <dgm:spPr/>
      <dgm:t>
        <a:bodyPr/>
        <a:lstStyle/>
        <a:p>
          <a:endParaRPr lang="en-US"/>
        </a:p>
      </dgm:t>
    </dgm:pt>
    <dgm:pt modelId="{C26F6CC2-2DA7-B34B-BE49-F6FEC79B9FEF}" type="pres">
      <dgm:prSet presAssocID="{316113F0-DB49-584D-A860-A540C80280C5}" presName="Name0" presStyleCnt="0">
        <dgm:presLayoutVars>
          <dgm:dir/>
          <dgm:resizeHandles val="exact"/>
        </dgm:presLayoutVars>
      </dgm:prSet>
      <dgm:spPr/>
    </dgm:pt>
    <dgm:pt modelId="{FA9AE3E5-7624-8A42-A2C5-B5F86CB9BF71}" type="pres">
      <dgm:prSet presAssocID="{437E4264-3323-4447-88B4-D38A6F38B830}" presName="node" presStyleLbl="node1" presStyleIdx="0" presStyleCnt="3">
        <dgm:presLayoutVars>
          <dgm:bulletEnabled val="1"/>
        </dgm:presLayoutVars>
      </dgm:prSet>
      <dgm:spPr/>
    </dgm:pt>
    <dgm:pt modelId="{E3F4F23F-2042-804F-8318-4030DBF98184}" type="pres">
      <dgm:prSet presAssocID="{8D8E16D5-0CC8-4E40-9C7B-EFC11FC70CE7}" presName="sibTrans" presStyleLbl="sibTrans2D1" presStyleIdx="0" presStyleCnt="2"/>
      <dgm:spPr/>
    </dgm:pt>
    <dgm:pt modelId="{9BC03622-F10A-3B48-9CD7-12A5273736A3}" type="pres">
      <dgm:prSet presAssocID="{8D8E16D5-0CC8-4E40-9C7B-EFC11FC70CE7}" presName="connectorText" presStyleLbl="sibTrans2D1" presStyleIdx="0" presStyleCnt="2"/>
      <dgm:spPr/>
    </dgm:pt>
    <dgm:pt modelId="{D384F5D4-B032-AC46-B249-8AAC288D2499}" type="pres">
      <dgm:prSet presAssocID="{50630FD9-DF55-F64B-A68B-FB67953C2971}" presName="node" presStyleLbl="node1" presStyleIdx="1" presStyleCnt="3">
        <dgm:presLayoutVars>
          <dgm:bulletEnabled val="1"/>
        </dgm:presLayoutVars>
      </dgm:prSet>
      <dgm:spPr/>
    </dgm:pt>
    <dgm:pt modelId="{0A89EF48-CC7D-4345-BA16-B1B71C6F22D1}" type="pres">
      <dgm:prSet presAssocID="{D7C92E57-5A02-994A-BFFD-B26031ABB157}" presName="sibTrans" presStyleLbl="sibTrans2D1" presStyleIdx="1" presStyleCnt="2"/>
      <dgm:spPr/>
    </dgm:pt>
    <dgm:pt modelId="{3F6D969C-C039-BF45-929A-FA92EE46106F}" type="pres">
      <dgm:prSet presAssocID="{D7C92E57-5A02-994A-BFFD-B26031ABB157}" presName="connectorText" presStyleLbl="sibTrans2D1" presStyleIdx="1" presStyleCnt="2"/>
      <dgm:spPr/>
    </dgm:pt>
    <dgm:pt modelId="{86475B76-7F10-334D-93FC-5C40349A98BD}" type="pres">
      <dgm:prSet presAssocID="{B1FF771A-7DB4-FA42-82D9-DDAE12C4EA9E}" presName="node" presStyleLbl="node1" presStyleIdx="2" presStyleCnt="3">
        <dgm:presLayoutVars>
          <dgm:bulletEnabled val="1"/>
        </dgm:presLayoutVars>
      </dgm:prSet>
      <dgm:spPr/>
    </dgm:pt>
  </dgm:ptLst>
  <dgm:cxnLst>
    <dgm:cxn modelId="{45EBDF0D-656F-7649-AB53-792F0199F5C1}" type="presOf" srcId="{50630FD9-DF55-F64B-A68B-FB67953C2971}" destId="{D384F5D4-B032-AC46-B249-8AAC288D2499}" srcOrd="0" destOrd="0" presId="urn:microsoft.com/office/officeart/2005/8/layout/process1"/>
    <dgm:cxn modelId="{ED9C9C2F-8F52-434B-89D7-F31253CD3DFB}" type="presOf" srcId="{316113F0-DB49-584D-A860-A540C80280C5}" destId="{C26F6CC2-2DA7-B34B-BE49-F6FEC79B9FEF}" srcOrd="0" destOrd="0" presId="urn:microsoft.com/office/officeart/2005/8/layout/process1"/>
    <dgm:cxn modelId="{D1ECA73C-72D4-1643-8707-8A272A588268}" type="presOf" srcId="{8D8E16D5-0CC8-4E40-9C7B-EFC11FC70CE7}" destId="{9BC03622-F10A-3B48-9CD7-12A5273736A3}" srcOrd="1" destOrd="0" presId="urn:microsoft.com/office/officeart/2005/8/layout/process1"/>
    <dgm:cxn modelId="{41C8976F-0688-9745-87A4-65DA7EDCCABC}" type="presOf" srcId="{8D8E16D5-0CC8-4E40-9C7B-EFC11FC70CE7}" destId="{E3F4F23F-2042-804F-8318-4030DBF98184}" srcOrd="0" destOrd="0" presId="urn:microsoft.com/office/officeart/2005/8/layout/process1"/>
    <dgm:cxn modelId="{B3AA9D92-E5AB-404A-92D9-5296A533E9C9}" srcId="{316113F0-DB49-584D-A860-A540C80280C5}" destId="{50630FD9-DF55-F64B-A68B-FB67953C2971}" srcOrd="1" destOrd="0" parTransId="{7E411FB9-ABF9-4E4D-BC9F-2FF5D82D1F7E}" sibTransId="{D7C92E57-5A02-994A-BFFD-B26031ABB157}"/>
    <dgm:cxn modelId="{A90DDEBD-3825-0040-899F-91DED20A6847}" srcId="{316113F0-DB49-584D-A860-A540C80280C5}" destId="{B1FF771A-7DB4-FA42-82D9-DDAE12C4EA9E}" srcOrd="2" destOrd="0" parTransId="{61A60584-749E-F849-9DA5-7578E8050C0B}" sibTransId="{B643728B-BC1F-C448-8BBF-89EE0002886F}"/>
    <dgm:cxn modelId="{31B44CBE-D74F-7C42-B5C3-B2F023D91CEC}" type="presOf" srcId="{D7C92E57-5A02-994A-BFFD-B26031ABB157}" destId="{3F6D969C-C039-BF45-929A-FA92EE46106F}" srcOrd="1" destOrd="0" presId="urn:microsoft.com/office/officeart/2005/8/layout/process1"/>
    <dgm:cxn modelId="{6EE31FD0-DA2D-5A41-9A5B-AA72B8B93ED0}" type="presOf" srcId="{D7C92E57-5A02-994A-BFFD-B26031ABB157}" destId="{0A89EF48-CC7D-4345-BA16-B1B71C6F22D1}" srcOrd="0" destOrd="0" presId="urn:microsoft.com/office/officeart/2005/8/layout/process1"/>
    <dgm:cxn modelId="{E08879D0-1C91-0B46-977A-293AC845E68F}" type="presOf" srcId="{B1FF771A-7DB4-FA42-82D9-DDAE12C4EA9E}" destId="{86475B76-7F10-334D-93FC-5C40349A98BD}" srcOrd="0" destOrd="0" presId="urn:microsoft.com/office/officeart/2005/8/layout/process1"/>
    <dgm:cxn modelId="{800474D7-3FAF-B04E-B41E-CA9E03B46671}" srcId="{316113F0-DB49-584D-A860-A540C80280C5}" destId="{437E4264-3323-4447-88B4-D38A6F38B830}" srcOrd="0" destOrd="0" parTransId="{8C1768A1-AB0F-014F-8644-1605B6B1C907}" sibTransId="{8D8E16D5-0CC8-4E40-9C7B-EFC11FC70CE7}"/>
    <dgm:cxn modelId="{154E87E4-5BF7-BA44-A195-790E75E6466F}" type="presOf" srcId="{437E4264-3323-4447-88B4-D38A6F38B830}" destId="{FA9AE3E5-7624-8A42-A2C5-B5F86CB9BF71}" srcOrd="0" destOrd="0" presId="urn:microsoft.com/office/officeart/2005/8/layout/process1"/>
    <dgm:cxn modelId="{AB3FCD24-EA76-FF40-826E-554433425C77}" type="presParOf" srcId="{C26F6CC2-2DA7-B34B-BE49-F6FEC79B9FEF}" destId="{FA9AE3E5-7624-8A42-A2C5-B5F86CB9BF71}" srcOrd="0" destOrd="0" presId="urn:microsoft.com/office/officeart/2005/8/layout/process1"/>
    <dgm:cxn modelId="{E5A60695-1D23-2848-8192-35D5CB320EEA}" type="presParOf" srcId="{C26F6CC2-2DA7-B34B-BE49-F6FEC79B9FEF}" destId="{E3F4F23F-2042-804F-8318-4030DBF98184}" srcOrd="1" destOrd="0" presId="urn:microsoft.com/office/officeart/2005/8/layout/process1"/>
    <dgm:cxn modelId="{6772C02F-783D-CC4A-AD83-CD7BF6F188D9}" type="presParOf" srcId="{E3F4F23F-2042-804F-8318-4030DBF98184}" destId="{9BC03622-F10A-3B48-9CD7-12A5273736A3}" srcOrd="0" destOrd="0" presId="urn:microsoft.com/office/officeart/2005/8/layout/process1"/>
    <dgm:cxn modelId="{FED0DE30-140F-1E4D-9045-FE19FD5FDA6D}" type="presParOf" srcId="{C26F6CC2-2DA7-B34B-BE49-F6FEC79B9FEF}" destId="{D384F5D4-B032-AC46-B249-8AAC288D2499}" srcOrd="2" destOrd="0" presId="urn:microsoft.com/office/officeart/2005/8/layout/process1"/>
    <dgm:cxn modelId="{8E70F727-091B-1945-B0C0-3832544F8700}" type="presParOf" srcId="{C26F6CC2-2DA7-B34B-BE49-F6FEC79B9FEF}" destId="{0A89EF48-CC7D-4345-BA16-B1B71C6F22D1}" srcOrd="3" destOrd="0" presId="urn:microsoft.com/office/officeart/2005/8/layout/process1"/>
    <dgm:cxn modelId="{6481F6A7-3B7C-7C45-A19B-52EC76EBC3CD}" type="presParOf" srcId="{0A89EF48-CC7D-4345-BA16-B1B71C6F22D1}" destId="{3F6D969C-C039-BF45-929A-FA92EE46106F}" srcOrd="0" destOrd="0" presId="urn:microsoft.com/office/officeart/2005/8/layout/process1"/>
    <dgm:cxn modelId="{97822B23-3ACF-7344-BA58-8B582C815721}" type="presParOf" srcId="{C26F6CC2-2DA7-B34B-BE49-F6FEC79B9FEF}" destId="{86475B76-7F10-334D-93FC-5C40349A98B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AE3E5-7624-8A42-A2C5-B5F86CB9BF71}">
      <dsp:nvSpPr>
        <dsp:cNvPr id="0" name=""/>
        <dsp:cNvSpPr/>
      </dsp:nvSpPr>
      <dsp:spPr>
        <a:xfrm>
          <a:off x="6196" y="0"/>
          <a:ext cx="1852208" cy="9378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Synthetic phish-report events </a:t>
          </a:r>
        </a:p>
      </dsp:txBody>
      <dsp:txXfrm>
        <a:off x="33666" y="27470"/>
        <a:ext cx="1797268" cy="882957"/>
      </dsp:txXfrm>
    </dsp:sp>
    <dsp:sp modelId="{E3F4F23F-2042-804F-8318-4030DBF98184}">
      <dsp:nvSpPr>
        <dsp:cNvPr id="0" name=""/>
        <dsp:cNvSpPr/>
      </dsp:nvSpPr>
      <dsp:spPr>
        <a:xfrm>
          <a:off x="2043626" y="239274"/>
          <a:ext cx="392668" cy="459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043626" y="331143"/>
        <a:ext cx="274868" cy="275609"/>
      </dsp:txXfrm>
    </dsp:sp>
    <dsp:sp modelId="{D384F5D4-B032-AC46-B249-8AAC288D2499}">
      <dsp:nvSpPr>
        <dsp:cNvPr id="0" name=""/>
        <dsp:cNvSpPr/>
      </dsp:nvSpPr>
      <dsp:spPr>
        <a:xfrm>
          <a:off x="2599288" y="0"/>
          <a:ext cx="1852208" cy="9378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Containerized logging &amp; metrics script</a:t>
          </a:r>
        </a:p>
      </dsp:txBody>
      <dsp:txXfrm>
        <a:off x="2626758" y="27470"/>
        <a:ext cx="1797268" cy="882957"/>
      </dsp:txXfrm>
    </dsp:sp>
    <dsp:sp modelId="{0A89EF48-CC7D-4345-BA16-B1B71C6F22D1}">
      <dsp:nvSpPr>
        <dsp:cNvPr id="0" name=""/>
        <dsp:cNvSpPr/>
      </dsp:nvSpPr>
      <dsp:spPr>
        <a:xfrm>
          <a:off x="4636718" y="239274"/>
          <a:ext cx="392668" cy="45934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636718" y="331143"/>
        <a:ext cx="274868" cy="275609"/>
      </dsp:txXfrm>
    </dsp:sp>
    <dsp:sp modelId="{86475B76-7F10-334D-93FC-5C40349A98BD}">
      <dsp:nvSpPr>
        <dsp:cNvPr id="0" name=""/>
        <dsp:cNvSpPr/>
      </dsp:nvSpPr>
      <dsp:spPr>
        <a:xfrm>
          <a:off x="5192380" y="0"/>
          <a:ext cx="1852208" cy="93789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Evidence in docs/</a:t>
          </a:r>
        </a:p>
      </dsp:txBody>
      <dsp:txXfrm>
        <a:off x="5219850" y="27470"/>
        <a:ext cx="1797268" cy="882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140E84-1E64-AF40-9936-BC52CC252669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B6990-21D0-3D4E-A912-7CAF104EF8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9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Speaker notes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project builds a small, containerized pipeline that makes phishing-report logs reproducible and auditable in a state-agency context, aligned with NIST standards for logging, monitoring,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788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slide shows why fragmented phish-report workflows matter: they slow investigations and monitoring and make Week-1 goals for higher verified reporting and faster detection harder to reach.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579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These three sources justify focusing on structured logging, clearer evidence flows, and containerized, version-controlled workflows for synthetic phish-report events.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References:</a:t>
            </a:r>
          </a:p>
          <a:p>
            <a:r>
              <a:rPr lang="en-US" b="0" dirty="0"/>
              <a:t>[2] K. </a:t>
            </a:r>
            <a:r>
              <a:rPr lang="en-US" b="0" dirty="0" err="1"/>
              <a:t>Althobaiti</a:t>
            </a:r>
            <a:r>
              <a:rPr lang="en-US" b="0" dirty="0"/>
              <a:t>, A. D. G. Jenkins, and K. </a:t>
            </a:r>
            <a:r>
              <a:rPr lang="en-US" b="0" dirty="0" err="1"/>
              <a:t>Vaniea</a:t>
            </a:r>
            <a:r>
              <a:rPr lang="en-US" b="0" dirty="0"/>
              <a:t>, “A Case Study of Phishing Incident Response in an Educational Organization,” </a:t>
            </a:r>
            <a:r>
              <a:rPr lang="en-US" b="0" i="1" dirty="0"/>
              <a:t>Proc. ACM Hum.-</a:t>
            </a:r>
            <a:r>
              <a:rPr lang="en-US" b="0" i="1" dirty="0" err="1"/>
              <a:t>Comput</a:t>
            </a:r>
            <a:r>
              <a:rPr lang="en-US" b="0" i="1" dirty="0"/>
              <a:t>. Interact.</a:t>
            </a:r>
            <a:r>
              <a:rPr lang="en-US" b="0" dirty="0"/>
              <a:t>, vol. 5, no. CSCW2, art. 338, Oct. 2021.</a:t>
            </a:r>
          </a:p>
          <a:p>
            <a:r>
              <a:rPr lang="en-US" b="0" dirty="0"/>
              <a:t>[3] J. Killcrece and R. </a:t>
            </a:r>
            <a:r>
              <a:rPr lang="en-US" b="0" dirty="0" err="1"/>
              <a:t>Ruefle</a:t>
            </a:r>
            <a:r>
              <a:rPr lang="en-US" b="0" dirty="0"/>
              <a:t>, </a:t>
            </a:r>
            <a:r>
              <a:rPr lang="en-US" b="0" i="1" dirty="0"/>
              <a:t>Communicating During Cybersecurity Incidents</a:t>
            </a:r>
            <a:r>
              <a:rPr lang="en-US" b="0" dirty="0"/>
              <a:t>. Pittsburgh, PA, USA: Software Engineering Institute, Carnegie Mellon Univ., 2021.</a:t>
            </a:r>
          </a:p>
          <a:p>
            <a:r>
              <a:rPr lang="en-US" b="0" dirty="0"/>
              <a:t>[4] Australian Cyber Security Centre, </a:t>
            </a:r>
            <a:r>
              <a:rPr lang="en-US" b="0" i="1" dirty="0"/>
              <a:t>Managing Legacy Information and Communications Technology Security Risks</a:t>
            </a:r>
            <a:r>
              <a:rPr lang="en-US" b="0" dirty="0"/>
              <a:t>. Canberra, Australia: Australian Signals Directorate, 2020.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47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The pipeline mirrors a future “Report Phish” button at small scale. One Docker command rebuilds the environment and generates logs and metrics from synthetic events.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53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Here I quote PR.PS-04 from CSF 2.0 Appendix A, p. 20, and Tenet 5 from SP 800-207, Sec. 2.1, p. 7, then show how the containerized pipeline satisfies these expectations.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27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This slide summarizes the synthetic-only ethics stance, the structured Data Management Plan, and how supply-chain risks are mitigated through version pinning, SBOM, and hash checks documented in the repo.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65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notes</a:t>
            </a:r>
          </a:p>
          <a:p>
            <a:endParaRPr lang="en-US" b="1" dirty="0"/>
          </a:p>
          <a:p>
            <a:r>
              <a:rPr lang="en-US" dirty="0"/>
              <a:t>Run: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docker build -t reproducibility-lab . &amp;&amp; docker run --rm -v "$PWD":/work reproducibility-lab</a:t>
            </a:r>
            <a:r>
              <a:rPr lang="en-US" dirty="0"/>
              <a:t>. These three metrics show how well requirement 03.03.03 is met using evidence in docs/</a:t>
            </a:r>
            <a:r>
              <a:rPr lang="en-US" dirty="0" err="1"/>
              <a:t>log.txt</a:t>
            </a:r>
            <a:r>
              <a:rPr lang="en-US" dirty="0"/>
              <a:t>, docs/</a:t>
            </a:r>
            <a:r>
              <a:rPr lang="en-US" dirty="0" err="1"/>
              <a:t>metric.txt</a:t>
            </a:r>
            <a:r>
              <a:rPr lang="en-US" dirty="0"/>
              <a:t>, and docs/traceability.*.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B6990-21D0-3D4E-A912-7CAF104EF8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351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Speaker notes</a:t>
            </a:r>
            <a:endParaRPr lang="en-US" dirty="0"/>
          </a:p>
          <a:p>
            <a:r>
              <a:rPr lang="en-US" dirty="0"/>
              <a:t>Use the CSF Profile idea from NIST SP 1301: concise Current and Target states for PR.PS-04, DE.CM-01, and GV.IM-03, with the PR.PS-04 Outcome quoted directly from CSF 2.0 Appendix A, p.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4AEB2-C993-A548-B953-FE3AEE14B4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7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14D76-7D3E-C48A-CBFF-F14B035DBF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DDB10-10F1-80B4-F26A-DCE1D6EAC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28FD3-34CD-3EB7-7753-EBF34FF4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4F3BD-5475-36CE-98FB-845E3CDAE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6888-F581-3C9B-12D8-B251AEB5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18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656A-D838-4A5F-5DE7-73BB95BB9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8E8D4-5543-6D25-D5BF-858FBF476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C6B0-B87F-950B-4000-9B25F92BE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49A1-9259-21A0-61B4-FD3EA42F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B5955-D331-0F40-4626-53823EABC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913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5502A-1CDB-77EC-81BA-978BF98CC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59AE66-A9E6-AE7D-B69A-2D04AE1A1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5C376-1CE2-60B8-A0B9-9059C7FB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FB3B18-324B-06BF-6AB6-86F76A42B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1B871-0F50-D583-45C2-32A753B73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3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D3706-A46B-1BE0-00BA-F3B804D3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ACC8-3784-DFAF-17E3-06F045E01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9552A9-C2B1-CC15-55F7-AFF5547D3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E75DE-E8EB-C723-0BEF-EF91C835D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5DA67-4448-0A53-B732-37B732B6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02432E-C345-B7BD-E22E-A4487DBBD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7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1C17D-90F2-9A7D-CC98-685E44B6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CAC3E-5A78-1667-8993-B688A1022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D8D71-CD76-777D-8015-1B30100EE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DD7153-C23D-3BAF-1204-8D2732AD7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43A78F-5144-7A27-3C0C-B087E9920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BE71D-9C64-4240-B461-45789E1AC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E04976-29BA-9D77-5B0A-0B3A701F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E5C7B3-321B-AA42-A19B-83A4AC41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4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5832A-3BF5-5C62-AD19-09F80B7C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67A99-F7F2-03BF-7D6E-943B8C0F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2B2C64-C2BD-E35A-401F-2C4071267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FEB23-86FE-9731-06DD-6EE8576F6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3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6F13EF-2626-8F22-CFF3-D3D93E2F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A30B80-AD53-2935-FC7A-CD413F2C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38E25-CCAF-6788-B6B0-99704727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5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638E-765E-F7C5-E1E4-C3C0ECEED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20DFA-6C99-2249-9F63-B6AFCAA82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8F811-6B4E-49B1-0661-DB56F78E4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6D56D-A08A-A524-4174-42E047DA7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4243ED-412B-74D6-599C-AD7C0F653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C48F8-8677-7A21-CD9B-8ABB73276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2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45FA-3CC5-E2C4-06F8-CB1BD283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A38164-8455-2212-AEF4-53AE81FE6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F0A48-D565-8BEC-2670-4C94BD3FB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055DB-B478-552C-4C94-3A41C9516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89CC6-9CCD-D537-9147-BF54E6D64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60898-8602-4555-EBB5-7DA533A2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234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D2AC-5F85-BE25-EC96-8AEC1844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380950-7ADF-134C-689E-C0C2E573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9E0A5-B0C0-F5A5-1769-16629C3B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5BF0B-D9E2-D5CE-C078-13E125EF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3E265-478E-9897-A657-9BC8B127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8E84C3-CB26-6761-3BAF-56C5A37AEA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ADCCE-B86C-0ADA-975B-36ED28230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93AB2-83C9-8DE7-9E77-CF2430B98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F474-6759-08C9-6A57-E6ED9B97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3BE94-AF08-75D3-CDE3-9479FEDA4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2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2FA38-F5B4-71DA-F998-2093252B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DA26B-F779-8F1E-1099-1EBF0BFAB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C4945-DDC4-EDF2-2933-358D135EC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2E919-C90E-B442-9635-1F9C5292D065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0EC86-66B6-1356-B6E9-E76DECB87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BBAE-E02C-0AA7-0344-37631BF66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87955-34FA-F745-89F4-5EA3D6221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6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96E7F-257C-186F-2B90-9B94DE96C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31" y="809898"/>
            <a:ext cx="9942716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Enabling Reproducible Audit Evidence for Phishing-Report Workflows in a State Agency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B8A23C-26FC-F805-6BD3-6267AF876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Shiva H. Thapa</a:t>
            </a:r>
            <a:br>
              <a:rPr lang="en-US" dirty="0"/>
            </a:br>
            <a:r>
              <a:rPr lang="en-US" dirty="0"/>
              <a:t>M.S. Cyber Operations – CYBR 698-51</a:t>
            </a:r>
            <a:br>
              <a:rPr lang="en-US" dirty="0"/>
            </a:br>
            <a:r>
              <a:rPr lang="en-US" dirty="0"/>
              <a:t>Fa25 Cyber Operations Capstone Project</a:t>
            </a:r>
            <a:br>
              <a:rPr lang="en-US" dirty="0"/>
            </a:br>
            <a:r>
              <a:rPr lang="en-US" dirty="0"/>
              <a:t>December 7, 2025</a:t>
            </a:r>
            <a:br>
              <a:rPr lang="en-US" dirty="0"/>
            </a:br>
            <a:r>
              <a:rPr lang="en-US" sz="1600" dirty="0"/>
              <a:t>Repo: https://</a:t>
            </a:r>
            <a:r>
              <a:rPr lang="en-US" sz="1600" dirty="0" err="1"/>
              <a:t>github.com</a:t>
            </a:r>
            <a:r>
              <a:rPr lang="en-US" sz="1600" dirty="0"/>
              <a:t>/shiva-thapa-cohort6/</a:t>
            </a:r>
            <a:r>
              <a:rPr lang="en-US" sz="1600" dirty="0" err="1"/>
              <a:t>repro_lab</a:t>
            </a:r>
            <a:endParaRPr lang="en-US" sz="160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74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80F81-1FB2-84FB-CB38-14497A92B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Phishing Reports Without Reliable Logs Undermine Response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8329F-11AA-FA03-65DB-69BD34181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State agencies depend on staff phishing reports to detect targeted email attacks, but “Report Phish” workflows and logs are fragmented across email, ticketing, and SIEM tools.</a:t>
            </a:r>
          </a:p>
          <a:p>
            <a:r>
              <a:rPr lang="en-US" sz="2400" dirty="0"/>
              <a:t>Inconsistent audit evidence slows investigations and weakens monitoring and compliance.</a:t>
            </a:r>
          </a:p>
          <a:p>
            <a:r>
              <a:rPr lang="en-US" sz="2400" dirty="0"/>
              <a:t>Week-1 objectives call for a 25% increase in verified phishing reporting and a ≤ 2-hour median time to detect, but those targets are hard to reach when phish-report logs are inconsistent and incomplete.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105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F84B5-A25D-9872-4C7F-FF73F649F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Evidence Snapshot From Prior Work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B0C8A2-E4E2-2EB9-4224-966EFA1D2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5185670"/>
              </p:ext>
            </p:extLst>
          </p:nvPr>
        </p:nvGraphicFramePr>
        <p:xfrm>
          <a:off x="904602" y="3090997"/>
          <a:ext cx="10378442" cy="30629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95039">
                  <a:extLst>
                    <a:ext uri="{9D8B030D-6E8A-4147-A177-3AD203B41FA5}">
                      <a16:colId xmlns:a16="http://schemas.microsoft.com/office/drawing/2014/main" val="3491425961"/>
                    </a:ext>
                  </a:extLst>
                </a:gridCol>
                <a:gridCol w="3473246">
                  <a:extLst>
                    <a:ext uri="{9D8B030D-6E8A-4147-A177-3AD203B41FA5}">
                      <a16:colId xmlns:a16="http://schemas.microsoft.com/office/drawing/2014/main" val="4204937689"/>
                    </a:ext>
                  </a:extLst>
                </a:gridCol>
                <a:gridCol w="3510157">
                  <a:extLst>
                    <a:ext uri="{9D8B030D-6E8A-4147-A177-3AD203B41FA5}">
                      <a16:colId xmlns:a16="http://schemas.microsoft.com/office/drawing/2014/main" val="3299973348"/>
                    </a:ext>
                  </a:extLst>
                </a:gridCol>
              </a:tblGrid>
              <a:tr h="4409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Source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Key Finding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Relevance to Design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131758"/>
                  </a:ext>
                </a:extLst>
              </a:tr>
              <a:tr h="87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Althobaiti et al., 2021 [2]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User phishing reports increase situational awareness but overwhelm analysts when evidence is inconsistent.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Motivates a standardized phish-report logging pipeline.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0972177"/>
                  </a:ext>
                </a:extLst>
              </a:tr>
              <a:tr h="87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Killcrece &amp; Ruefle, 2021 [3]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Structured, well-documented incident communication improves response quality and reduces confusion.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Supports clear, shareable log records for SOC and leadership.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067107"/>
                  </a:ext>
                </a:extLst>
              </a:tr>
              <a:tr h="874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ACSC, 2020 [4]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Legacy and opaque systems weaken monitoring despite formal control catalogs.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Justifies containerized, version-pinned analysis workflows with explicit metrics.</a:t>
                      </a:r>
                    </a:p>
                  </a:txBody>
                  <a:tcPr marL="177133" marR="88566" marT="88566" marB="88566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E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696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534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E3A4F-A000-A0B2-B0DD-F083D7F9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100" dirty="0"/>
              <a:t>Containerized Phish-Report Logging Pipeline</a:t>
            </a:r>
            <a:br>
              <a:rPr lang="en-US" sz="4100" dirty="0"/>
            </a:br>
            <a:endParaRPr lang="en-US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C4758-2D6D-652E-38EF-AB7CBC2C4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Single documented command builds the container image and regenerates all outputs from synthetic phish-report events.</a:t>
            </a:r>
          </a:p>
          <a:p>
            <a:r>
              <a:rPr lang="en-US" sz="1700" dirty="0"/>
              <a:t>No real email content or identifiers are stored; all records are synthetic and schema-controlled.</a:t>
            </a:r>
          </a:p>
          <a:p>
            <a:r>
              <a:rPr lang="en-US" sz="1700" dirty="0"/>
              <a:t>Metrics are computed automatically and written into docs/</a:t>
            </a:r>
            <a:r>
              <a:rPr lang="en-US" sz="1700" dirty="0" err="1"/>
              <a:t>metric.txt</a:t>
            </a:r>
            <a:r>
              <a:rPr lang="en-US" sz="1700" dirty="0"/>
              <a:t> for reuse in traceability discussions.</a:t>
            </a:r>
          </a:p>
          <a:p>
            <a:r>
              <a:rPr lang="en-US" sz="1700" b="1" dirty="0"/>
              <a:t>Key measures :</a:t>
            </a:r>
            <a:r>
              <a:rPr lang="en-US" sz="1700" dirty="0"/>
              <a:t> Reproducible Analysis Run Success Rate, Audit Record Retention Coverage, and Field Completeness Score </a:t>
            </a:r>
            <a:r>
              <a:rPr lang="en-US" sz="1800" dirty="0"/>
              <a:t>(details on Evaluation slide).</a:t>
            </a:r>
            <a:endParaRPr lang="en-US" sz="1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997540D-8857-490C-7802-A521B9CD76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4224264"/>
              </p:ext>
            </p:extLst>
          </p:nvPr>
        </p:nvGraphicFramePr>
        <p:xfrm>
          <a:off x="2218646" y="2645471"/>
          <a:ext cx="7050786" cy="9378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74950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8EF3F-C248-D43E-41CE-639B0C26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Standards Anchors: CSF 2.0 and Zero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C488A-CFB0-6C60-7F70-7D182736F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b="1" dirty="0"/>
              <a:t>Row / Block 1 – CSF Outcome</a:t>
            </a:r>
            <a:endParaRPr lang="en-US" sz="1300" dirty="0"/>
          </a:p>
          <a:p>
            <a:r>
              <a:rPr lang="en-US" sz="1300" b="1" dirty="0"/>
              <a:t>CSF 2.0 Outcome (Protect – Protective Security):</a:t>
            </a:r>
            <a:br>
              <a:rPr lang="en-US" sz="1300" dirty="0"/>
            </a:br>
            <a:r>
              <a:rPr lang="en-US" sz="1300" dirty="0"/>
              <a:t>PR.PS-04: “Log records are generated and made available for continuous monitoring.”</a:t>
            </a:r>
            <a:br>
              <a:rPr lang="en-US" sz="1300" dirty="0"/>
            </a:br>
            <a:r>
              <a:rPr lang="en-US" sz="1300" dirty="0"/>
              <a:t>(NIST CSF 2.0, Appendix A, p. 20)</a:t>
            </a:r>
          </a:p>
          <a:p>
            <a:r>
              <a:rPr lang="en-US" sz="1300" b="1" dirty="0"/>
              <a:t>Design link:</a:t>
            </a:r>
            <a:br>
              <a:rPr lang="en-US" sz="1300" dirty="0"/>
            </a:br>
            <a:r>
              <a:rPr lang="en-US" sz="1300" dirty="0"/>
              <a:t>Each container run generates structured log records and metrics into known files (docs/</a:t>
            </a:r>
            <a:r>
              <a:rPr lang="en-US" sz="1300" dirty="0" err="1"/>
              <a:t>log.txt</a:t>
            </a:r>
            <a:r>
              <a:rPr lang="en-US" sz="1300" dirty="0"/>
              <a:t>, docs/</a:t>
            </a:r>
            <a:r>
              <a:rPr lang="en-US" sz="1300" dirty="0" err="1"/>
              <a:t>metric.txt</a:t>
            </a:r>
            <a:r>
              <a:rPr lang="en-US" sz="1300" dirty="0"/>
              <a:t>, docs/</a:t>
            </a:r>
            <a:r>
              <a:rPr lang="en-US" sz="1300" dirty="0" err="1"/>
              <a:t>chart.png</a:t>
            </a:r>
            <a:r>
              <a:rPr lang="en-US" sz="1300" dirty="0"/>
              <a:t>), making them available for continuous monitoring activities.</a:t>
            </a:r>
          </a:p>
          <a:p>
            <a:pPr marL="0" indent="0">
              <a:buNone/>
            </a:pPr>
            <a:r>
              <a:rPr lang="en-US" sz="1300" b="1" dirty="0"/>
              <a:t>Row / Block 2 – ZTA Tenet</a:t>
            </a:r>
            <a:endParaRPr lang="en-US" sz="1300" dirty="0"/>
          </a:p>
          <a:p>
            <a:r>
              <a:rPr lang="en-US" sz="1300" b="1" dirty="0"/>
              <a:t>Zero Trust Tenet (SP 800-207):</a:t>
            </a:r>
            <a:br>
              <a:rPr lang="en-US" sz="1300" dirty="0"/>
            </a:br>
            <a:r>
              <a:rPr lang="en-US" sz="1300" dirty="0"/>
              <a:t>“The enterprise monitors and measures the integrity and security posture of all owned and associated assets.”</a:t>
            </a:r>
            <a:br>
              <a:rPr lang="en-US" sz="1300" dirty="0"/>
            </a:br>
            <a:r>
              <a:rPr lang="en-US" sz="1300" dirty="0"/>
              <a:t>(NIST SP 800-207, Sec. 2.1, p. 7)</a:t>
            </a:r>
          </a:p>
          <a:p>
            <a:r>
              <a:rPr lang="en-US" sz="1300" b="1" dirty="0"/>
              <a:t>Design link:</a:t>
            </a:r>
            <a:br>
              <a:rPr lang="en-US" sz="1300" dirty="0"/>
            </a:br>
            <a:r>
              <a:rPr lang="en-US" sz="1300" dirty="0"/>
              <a:t>Metrics such as run success rate and audit coverage treat the logging pipeline itself as an asset whose posture is monitored over time.</a:t>
            </a:r>
          </a:p>
          <a:p>
            <a:endParaRPr lang="en-US" sz="13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73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1D296F-81BD-ECD6-045C-5C10F644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Ethics, Data Management, and C-SCRM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F45C9-0C0F-B70B-2E14-14386AE8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Ethics &amp; privacy (</a:t>
            </a:r>
            <a:r>
              <a:rPr lang="en-US" sz="2000" b="1" dirty="0" err="1"/>
              <a:t>ETHICS.md</a:t>
            </a:r>
            <a:r>
              <a:rPr lang="en-US" sz="2000" b="1" dirty="0"/>
              <a:t>):</a:t>
            </a:r>
            <a:r>
              <a:rPr lang="en-US" sz="2000" dirty="0"/>
              <a:t> Only synthetic phish-report events are used; no real names, internal email addresses, or message bodies are stored.  Follows “minimum necessary” collection aligned with AC-6 and PT-3 in NIST SP 800-53 Rev. 5 AC-6 and PT-3.</a:t>
            </a:r>
          </a:p>
          <a:p>
            <a:r>
              <a:rPr lang="en-US" sz="2000" b="1" dirty="0"/>
              <a:t>Data handling (</a:t>
            </a:r>
            <a:r>
              <a:rPr lang="en-US" sz="2000" b="1" dirty="0" err="1"/>
              <a:t>DMP.md</a:t>
            </a:r>
            <a:r>
              <a:rPr lang="en-US" sz="2000" b="1" dirty="0"/>
              <a:t>):</a:t>
            </a:r>
            <a:r>
              <a:rPr lang="en-US" sz="2000" dirty="0"/>
              <a:t> Synthetic events in data/, code in </a:t>
            </a:r>
            <a:r>
              <a:rPr lang="en-US" sz="2000" dirty="0" err="1"/>
              <a:t>src</a:t>
            </a:r>
            <a:r>
              <a:rPr lang="en-US" sz="2000" dirty="0"/>
              <a:t>/, output in docs/. Stored on encrypted local storage and a restricted cloud workspace; retention bounded to course requirements.</a:t>
            </a:r>
          </a:p>
          <a:p>
            <a:r>
              <a:rPr lang="en-US" sz="2000" b="1" dirty="0"/>
              <a:t>C-SCRM (docs/</a:t>
            </a:r>
            <a:r>
              <a:rPr lang="en-US" sz="2000" b="1" dirty="0" err="1"/>
              <a:t>cscrm_note.md</a:t>
            </a:r>
            <a:r>
              <a:rPr lang="en-US" sz="2000" b="1" dirty="0"/>
              <a:t>):</a:t>
            </a:r>
            <a:r>
              <a:rPr lang="en-US" sz="2000" dirty="0"/>
              <a:t> Dependency risk from base container images and Python libraries is mitigated through version pinning, a simple SBOM, and basic hash checks before and after runs.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4C4044C-A7C9-783E-2A7D-D53AC9493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681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BEDC8D-9728-7BA7-752B-E277A2E8D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Evaluation Plan: SMART Metrics and 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11CD9-E25C-1FC4-8BCE-76C02E85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Reproducible Analysis Run Success Rate</a:t>
            </a:r>
            <a:br>
              <a:rPr lang="en-US" sz="1700" dirty="0"/>
            </a:br>
            <a:r>
              <a:rPr lang="en-US" sz="1700" dirty="0"/>
              <a:t>= successful container runs that produce expected outputs ÷ total runs in a defined period.</a:t>
            </a:r>
          </a:p>
          <a:p>
            <a:r>
              <a:rPr lang="en-US" sz="1700" b="1" dirty="0"/>
              <a:t>Audit Record Retention Coverage</a:t>
            </a:r>
            <a:br>
              <a:rPr lang="en-US" sz="1700" dirty="0"/>
            </a:br>
            <a:r>
              <a:rPr lang="en-US" sz="1700" dirty="0"/>
              <a:t>= events with logs spanning the configured time window ÷ total synthetic events.</a:t>
            </a:r>
          </a:p>
          <a:p>
            <a:r>
              <a:rPr lang="en-US" sz="1700" b="1" dirty="0"/>
              <a:t>Field Completeness Score</a:t>
            </a:r>
            <a:br>
              <a:rPr lang="en-US" sz="1700" dirty="0"/>
            </a:br>
            <a:r>
              <a:rPr lang="en-US" sz="1700" dirty="0"/>
              <a:t>= logs containing all required fields ÷ total logs sampled.</a:t>
            </a:r>
          </a:p>
          <a:p>
            <a:pPr marL="0" indent="0">
              <a:buNone/>
            </a:pPr>
            <a:r>
              <a:rPr lang="en-US" sz="1700" b="1" dirty="0"/>
              <a:t>**Traceability chain:**</a:t>
            </a:r>
          </a:p>
          <a:p>
            <a:pPr marL="0" indent="0">
              <a:buNone/>
            </a:pPr>
            <a:r>
              <a:rPr lang="en-US" sz="1700" b="1" dirty="0"/>
              <a:t>Risk → Requirement → Metric → Evidence: </a:t>
            </a:r>
          </a:p>
          <a:p>
            <a:pPr marL="0" indent="0">
              <a:buNone/>
            </a:pPr>
            <a:r>
              <a:rPr lang="en-US" sz="1700" dirty="0"/>
              <a:t>missing or incomplete phishing audit records → NIST SP 800-171r3  03.03.03 → Reproducible Analysis Run Success Rate → evidence in docs/</a:t>
            </a:r>
            <a:r>
              <a:rPr lang="en-US" sz="1700" dirty="0" err="1"/>
              <a:t>log.txt</a:t>
            </a:r>
            <a:r>
              <a:rPr lang="en-US" sz="1700" dirty="0"/>
              <a:t>, docs/</a:t>
            </a:r>
            <a:r>
              <a:rPr lang="en-US" sz="1700" dirty="0" err="1"/>
              <a:t>metric.txt</a:t>
            </a:r>
            <a:r>
              <a:rPr lang="en-US" sz="1700" dirty="0"/>
              <a:t>, and docs/traceability.*.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067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237B7-2A7F-5A86-883E-14D6E112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CSF 2.0 Current → Target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9CDAA-5A0C-9FB3-751D-52EAD5F2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500" b="1" dirty="0"/>
              <a:t>PR.PS-04 – Log records for continuous monitoring</a:t>
            </a:r>
            <a:br>
              <a:rPr lang="en-US" sz="1500" dirty="0"/>
            </a:br>
            <a:r>
              <a:rPr lang="en-US" sz="1500" i="1" dirty="0"/>
              <a:t>Current:</a:t>
            </a:r>
            <a:r>
              <a:rPr lang="en-US" sz="1500" dirty="0"/>
              <a:t> Phish-related logs are fragmented and not demonstrably reproducible or complete.</a:t>
            </a:r>
            <a:br>
              <a:rPr lang="en-US" sz="1500" dirty="0"/>
            </a:br>
            <a:r>
              <a:rPr lang="en-US" sz="1500" i="1" dirty="0"/>
              <a:t>Target:</a:t>
            </a:r>
            <a:r>
              <a:rPr lang="en-US" sz="1500" dirty="0"/>
              <a:t> Synthetic phish-report events consistently produce reproducible, documented log records and metrics aligned with PR.PS-04.</a:t>
            </a:r>
          </a:p>
          <a:p>
            <a:r>
              <a:rPr lang="en-US" sz="1500" b="1" dirty="0"/>
              <a:t>DE.CM-01 – Networks and services are monitored</a:t>
            </a:r>
            <a:br>
              <a:rPr lang="en-US" sz="1500" dirty="0"/>
            </a:br>
            <a:r>
              <a:rPr lang="en-US" sz="1500" i="1" dirty="0"/>
              <a:t>Current:</a:t>
            </a:r>
            <a:r>
              <a:rPr lang="en-US" sz="1500" dirty="0"/>
              <a:t> Monitoring of phishing events depends on scattered logs and manual reconstruction.</a:t>
            </a:r>
            <a:br>
              <a:rPr lang="en-US" sz="1500" dirty="0"/>
            </a:br>
            <a:r>
              <a:rPr lang="en-US" sz="1500" i="1" dirty="0"/>
              <a:t>Target:</a:t>
            </a:r>
            <a:r>
              <a:rPr lang="en-US" sz="1500" dirty="0"/>
              <a:t> Logging workflow provides a small, testable feed of structured events that can plug into broader monitoring.</a:t>
            </a:r>
          </a:p>
          <a:p>
            <a:r>
              <a:rPr lang="en-US" sz="1500" b="1" dirty="0"/>
              <a:t>GV.IM-03 – Measurement and improvement</a:t>
            </a:r>
            <a:br>
              <a:rPr lang="en-US" sz="1500" dirty="0"/>
            </a:br>
            <a:r>
              <a:rPr lang="en-US" sz="1500" i="1" dirty="0"/>
              <a:t>Current:</a:t>
            </a:r>
            <a:r>
              <a:rPr lang="en-US" sz="1500" dirty="0"/>
              <a:t> Logging reliability and coverage are not measured consistently.</a:t>
            </a:r>
            <a:br>
              <a:rPr lang="en-US" sz="1500" dirty="0"/>
            </a:br>
            <a:r>
              <a:rPr lang="en-US" sz="1500" i="1" dirty="0"/>
              <a:t>Target:</a:t>
            </a:r>
            <a:r>
              <a:rPr lang="en-US" sz="1500" dirty="0"/>
              <a:t> Metrics and evidence in docs/ support routine evaluation of log generation and retention.</a:t>
            </a:r>
          </a:p>
          <a:p>
            <a:endParaRPr lang="en-US" sz="1500" dirty="0"/>
          </a:p>
          <a:p>
            <a:r>
              <a:rPr lang="en-US" sz="1500" dirty="0"/>
              <a:t>PR.PS-04: “Log records are generated and made available for continuous monitoring.” (NIST CSF 2.0, App. A, p. 20)</a:t>
            </a:r>
          </a:p>
          <a:p>
            <a:endParaRPr lang="en-US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462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2B6A2-FFDB-CAEE-E407-DE3AB2087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Evidence-Standards Pages Used in Slides</a:t>
            </a:r>
          </a:p>
        </p:txBody>
      </p:sp>
      <p:pic>
        <p:nvPicPr>
          <p:cNvPr id="5" name="Content Placeholder 4" descr="A document with text on it&#10;&#10;AI-generated content may be incorrect.">
            <a:extLst>
              <a:ext uri="{FF2B5EF4-FFF2-40B4-BE49-F238E27FC236}">
                <a16:creationId xmlns:a16="http://schemas.microsoft.com/office/drawing/2014/main" id="{B796D0E1-9411-E6B1-9DD8-382CF956C2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612" y="1456689"/>
            <a:ext cx="3499973" cy="3944621"/>
          </a:xfrm>
        </p:spPr>
      </p:pic>
      <p:pic>
        <p:nvPicPr>
          <p:cNvPr id="7" name="Picture 6" descr="A document with text on it&#10;&#10;AI-generated content may be incorrect.">
            <a:extLst>
              <a:ext uri="{FF2B5EF4-FFF2-40B4-BE49-F238E27FC236}">
                <a16:creationId xmlns:a16="http://schemas.microsoft.com/office/drawing/2014/main" id="{7778A725-0990-22C8-85F8-230160560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652" y="1591947"/>
            <a:ext cx="3231081" cy="4108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AD2DE-CEAB-ACB5-54B5-DBD434E7FEAC}"/>
              </a:ext>
            </a:extLst>
          </p:cNvPr>
          <p:cNvSpPr txBox="1"/>
          <p:nvPr/>
        </p:nvSpPr>
        <p:spPr>
          <a:xfrm>
            <a:off x="381966" y="5602148"/>
            <a:ext cx="444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NIST CSF 2.0, Appendix A, p. 20 – PR.PS-04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89225-E076-DF3F-73DF-4108B8E94F66}"/>
              </a:ext>
            </a:extLst>
          </p:cNvPr>
          <p:cNvSpPr txBox="1"/>
          <p:nvPr/>
        </p:nvSpPr>
        <p:spPr>
          <a:xfrm>
            <a:off x="6921661" y="5741043"/>
            <a:ext cx="4086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NIST SP 800-207, p. 7 – Tenet 5</a:t>
            </a:r>
          </a:p>
        </p:txBody>
      </p:sp>
    </p:spTree>
    <p:extLst>
      <p:ext uri="{BB962C8B-B14F-4D97-AF65-F5344CB8AC3E}">
        <p14:creationId xmlns:p14="http://schemas.microsoft.com/office/powerpoint/2010/main" val="1880934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1361</Words>
  <Application>Microsoft Macintosh PowerPoint</Application>
  <PresentationFormat>Widescreen</PresentationFormat>
  <Paragraphs>87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Enabling Reproducible Audit Evidence for Phishing-Report Workflows in a State Agency</vt:lpstr>
      <vt:lpstr>Phishing Reports Without Reliable Logs Undermine Response</vt:lpstr>
      <vt:lpstr>Evidence Snapshot From Prior Work</vt:lpstr>
      <vt:lpstr>Containerized Phish-Report Logging Pipeline </vt:lpstr>
      <vt:lpstr>Standards Anchors: CSF 2.0 and Zero Trust</vt:lpstr>
      <vt:lpstr>Ethics, Data Management, and C-SCRM</vt:lpstr>
      <vt:lpstr>Evaluation Plan: SMART Metrics and Traceability</vt:lpstr>
      <vt:lpstr>CSF 2.0 Current → Target Profile</vt:lpstr>
      <vt:lpstr>Evidence-Standards Pages Used in Slides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Thapa, Shiva H</dc:creator>
  <cp:lastModifiedBy>Thapa, Shiva H</cp:lastModifiedBy>
  <cp:revision>15</cp:revision>
  <cp:lastPrinted>2025-12-08T04:44:48Z</cp:lastPrinted>
  <dcterms:created xsi:type="dcterms:W3CDTF">2025-12-06T16:36:05Z</dcterms:created>
  <dcterms:modified xsi:type="dcterms:W3CDTF">2025-12-08T07:35:05Z</dcterms:modified>
</cp:coreProperties>
</file>